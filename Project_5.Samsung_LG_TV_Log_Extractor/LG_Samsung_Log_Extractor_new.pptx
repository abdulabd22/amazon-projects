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70" r:id="rId6"/>
    <p:sldId id="266" r:id="rId7"/>
    <p:sldId id="268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Libre Baskerville" panose="020B0604020202020204" charset="0"/>
      <p:regular r:id="rId13"/>
    </p:embeddedFont>
    <p:embeddedFont>
      <p:font typeface="Yeseva On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labcollab.net/confluence/display/Doppler/LG+and+Samsung+3P+TV+Log+Extractor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0" y="2019300"/>
            <a:ext cx="13402474" cy="277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00"/>
              </a:lnSpc>
            </a:pPr>
            <a:r>
              <a:rPr lang="en-US" sz="9060" dirty="0">
                <a:solidFill>
                  <a:srgbClr val="000000"/>
                </a:solidFill>
              </a:rPr>
              <a:t>Samsung &amp; LG </a:t>
            </a:r>
          </a:p>
          <a:p>
            <a:pPr algn="ctr">
              <a:lnSpc>
                <a:spcPts val="10600"/>
              </a:lnSpc>
            </a:pPr>
            <a:r>
              <a:rPr lang="en-US" sz="9060" dirty="0">
                <a:solidFill>
                  <a:srgbClr val="000000"/>
                </a:solidFill>
              </a:rPr>
              <a:t>Log Extractor Tool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83182" y="8858250"/>
            <a:ext cx="1172163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dirty="0">
                <a:solidFill>
                  <a:srgbClr val="000000"/>
                </a:solidFill>
                <a:latin typeface="Libre Baskerville"/>
              </a:rPr>
              <a:t>Presented by Abdul Rahaman &amp; Musbera Banu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2247900" y="6527986"/>
            <a:ext cx="13792200" cy="3111314"/>
          </a:xfrm>
          <a:custGeom>
            <a:avLst/>
            <a:gdLst/>
            <a:ahLst/>
            <a:cxnLst/>
            <a:rect l="l" t="t" r="r" b="b"/>
            <a:pathLst>
              <a:path w="8430324" h="2318057">
                <a:moveTo>
                  <a:pt x="0" y="0"/>
                </a:moveTo>
                <a:lnTo>
                  <a:pt x="8430324" y="0"/>
                </a:lnTo>
                <a:lnTo>
                  <a:pt x="8430324" y="2318057"/>
                </a:lnTo>
                <a:lnTo>
                  <a:pt x="0" y="2318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3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81201" y="1970647"/>
            <a:ext cx="144780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 dirty="0">
                <a:solidFill>
                  <a:srgbClr val="000000"/>
                </a:solidFill>
              </a:rPr>
              <a:t>Introduction - AVS Team</a:t>
            </a:r>
          </a:p>
          <a:p>
            <a:pPr algn="ctr">
              <a:lnSpc>
                <a:spcPts val="9060"/>
              </a:lnSpc>
            </a:pPr>
            <a:endParaRPr lang="en-US" sz="9060" dirty="0">
              <a:solidFill>
                <a:srgbClr val="000000"/>
              </a:solidFill>
              <a:latin typeface="Yeseva On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54549" y="3987158"/>
            <a:ext cx="17778902" cy="1928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1050" lvl="1" indent="-457200" algn="l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</a:rPr>
              <a:t>The Alexa Voice Service (AVS) </a:t>
            </a:r>
            <a:r>
              <a:rPr lang="en-US" sz="3000" dirty="0">
                <a:solidFill>
                  <a:srgbClr val="000000"/>
                </a:solidFill>
              </a:rPr>
              <a:t>team is responsible for integrating the </a:t>
            </a:r>
            <a:r>
              <a:rPr lang="en-US" sz="3000" b="1" dirty="0">
                <a:solidFill>
                  <a:srgbClr val="000000"/>
                </a:solidFill>
              </a:rPr>
              <a:t>Alexa app </a:t>
            </a:r>
            <a:r>
              <a:rPr lang="en-US" sz="3000" dirty="0">
                <a:solidFill>
                  <a:srgbClr val="000000"/>
                </a:solidFill>
              </a:rPr>
              <a:t>with third-party TVs, e.g., Samsung, LG, Philips and Hisense TVs, by providing direct </a:t>
            </a:r>
            <a:r>
              <a:rPr lang="en-US" sz="3000" b="1" dirty="0">
                <a:solidFill>
                  <a:srgbClr val="000000"/>
                </a:solidFill>
              </a:rPr>
              <a:t>Alexa built-in </a:t>
            </a:r>
            <a:r>
              <a:rPr lang="en-US" sz="3000" dirty="0">
                <a:solidFill>
                  <a:srgbClr val="000000"/>
                </a:solidFill>
              </a:rPr>
              <a:t>support for their products.</a:t>
            </a:r>
          </a:p>
          <a:p>
            <a:pPr marL="781050" lvl="1" indent="-457200" algn="l">
              <a:lnSpc>
                <a:spcPts val="3000"/>
              </a:lnSpc>
              <a:buFont typeface="Wingdings" panose="05000000000000000000" pitchFamily="2" charset="2"/>
              <a:buChar char="Ø"/>
            </a:pPr>
            <a:endParaRPr lang="en-US" sz="3000" dirty="0">
              <a:solidFill>
                <a:srgbClr val="000000"/>
              </a:solidFill>
            </a:endParaRPr>
          </a:p>
          <a:p>
            <a:pPr marL="781050" lvl="1" indent="-457200" algn="l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</a:rPr>
              <a:t>As a QS team, we perform end-to-end testing on these TVs and sign off on those 3P partners to ensure the highest quality standards for these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810000" y="1763899"/>
            <a:ext cx="11527829" cy="118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 dirty="0">
                <a:solidFill>
                  <a:srgbClr val="000000"/>
                </a:solidFill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000" y="3390900"/>
            <a:ext cx="17754599" cy="5390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1050" lvl="1" indent="-457200" algn="l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</a:rPr>
              <a:t>Configuration: As part of the prerequisite, setting up Samsung and LG TVs is needed to kick-start the testing. It includes setting the environment, rooting, installing or uninstalling APKs, etc.</a:t>
            </a:r>
          </a:p>
          <a:p>
            <a:pPr marL="323850" lvl="1" algn="l">
              <a:lnSpc>
                <a:spcPts val="3000"/>
              </a:lnSpc>
            </a:pPr>
            <a:endParaRPr lang="en-US" sz="3000" dirty="0">
              <a:solidFill>
                <a:srgbClr val="000000"/>
              </a:solidFill>
            </a:endParaRPr>
          </a:p>
          <a:p>
            <a:pPr marL="781050" lvl="1" indent="-457200" algn="l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</a:rPr>
              <a:t>Log collection: To raise or validate any defect, we need to extract multiple logs, such as five types of logs in Samsung and three types of logs in LG, for debugging purposes.</a:t>
            </a:r>
          </a:p>
          <a:p>
            <a:pPr marL="323850" lvl="1" algn="l">
              <a:lnSpc>
                <a:spcPts val="3000"/>
              </a:lnSpc>
            </a:pPr>
            <a:endParaRPr lang="en-US" sz="3000" dirty="0">
              <a:solidFill>
                <a:srgbClr val="000000"/>
              </a:solidFill>
            </a:endParaRPr>
          </a:p>
          <a:p>
            <a:pPr marL="781050" lvl="1" indent="-457200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</a:rPr>
              <a:t>The above two processes requires applying different commands across terminals after connecting our PC and TV via </a:t>
            </a:r>
            <a:r>
              <a:rPr lang="en-US" sz="3000" dirty="0" err="1">
                <a:solidFill>
                  <a:srgbClr val="000000"/>
                </a:solidFill>
              </a:rPr>
              <a:t>ssh</a:t>
            </a:r>
            <a:r>
              <a:rPr lang="en-US" sz="3000" dirty="0">
                <a:solidFill>
                  <a:srgbClr val="000000"/>
                </a:solidFill>
              </a:rPr>
              <a:t>(LG)/</a:t>
            </a:r>
            <a:r>
              <a:rPr lang="en-US" sz="3000" dirty="0" err="1">
                <a:solidFill>
                  <a:srgbClr val="000000"/>
                </a:solidFill>
              </a:rPr>
              <a:t>sdb</a:t>
            </a:r>
            <a:r>
              <a:rPr lang="en-US" sz="3000" dirty="0">
                <a:solidFill>
                  <a:srgbClr val="000000"/>
                </a:solidFill>
              </a:rPr>
              <a:t>(Samsung).</a:t>
            </a:r>
          </a:p>
          <a:p>
            <a:pPr marL="323850" lvl="1">
              <a:lnSpc>
                <a:spcPts val="3000"/>
              </a:lnSpc>
            </a:pPr>
            <a:endParaRPr lang="en-US" sz="3000" dirty="0">
              <a:solidFill>
                <a:srgbClr val="000000"/>
              </a:solidFill>
            </a:endParaRPr>
          </a:p>
          <a:p>
            <a:pPr marL="781050" lvl="1" indent="-457200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</a:rPr>
              <a:t>Even after applying the respective commands to collect logs, they won't be stored directly, as we need to copy and paste them manually into a text file. </a:t>
            </a:r>
          </a:p>
          <a:p>
            <a:pPr marL="323850" lvl="1">
              <a:lnSpc>
                <a:spcPts val="3000"/>
              </a:lnSpc>
            </a:pPr>
            <a:endParaRPr lang="en-US" sz="3000" dirty="0">
              <a:solidFill>
                <a:srgbClr val="000000"/>
              </a:solidFill>
            </a:endParaRPr>
          </a:p>
          <a:p>
            <a:pPr marL="781050" lvl="1" indent="-457200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</a:rPr>
              <a:t>It is not only time consuming &amp; tedious process, it demands manual efforts as well. </a:t>
            </a:r>
          </a:p>
          <a:p>
            <a:pPr marL="323850" lvl="1" algn="l">
              <a:lnSpc>
                <a:spcPts val="3000"/>
              </a:lnSpc>
            </a:pPr>
            <a:endParaRPr lang="en-US" sz="3000" dirty="0">
              <a:solidFill>
                <a:srgbClr val="000000"/>
              </a:solidFill>
              <a:latin typeface="Libre Baskervil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060013" y="1974584"/>
            <a:ext cx="15656956" cy="1214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 dirty="0">
                <a:solidFill>
                  <a:srgbClr val="000000"/>
                </a:solidFill>
              </a:rPr>
              <a:t>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4800" y="3445664"/>
            <a:ext cx="16230600" cy="3466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</a:rPr>
              <a:t>Developed a unified scripting tool with the help of bash scripting that automates the device </a:t>
            </a:r>
            <a:r>
              <a:rPr lang="en-US" sz="3000" b="1" dirty="0">
                <a:solidFill>
                  <a:srgbClr val="000000"/>
                </a:solidFill>
              </a:rPr>
              <a:t>configuration</a:t>
            </a:r>
            <a:r>
              <a:rPr lang="en-US" sz="3000" dirty="0">
                <a:solidFill>
                  <a:srgbClr val="000000"/>
                </a:solidFill>
              </a:rPr>
              <a:t> and defect </a:t>
            </a:r>
            <a:r>
              <a:rPr lang="en-US" sz="3000" b="1" dirty="0">
                <a:solidFill>
                  <a:srgbClr val="000000"/>
                </a:solidFill>
              </a:rPr>
              <a:t>log collection </a:t>
            </a:r>
            <a:r>
              <a:rPr lang="en-US" sz="3000" dirty="0">
                <a:solidFill>
                  <a:srgbClr val="000000"/>
                </a:solidFill>
              </a:rPr>
              <a:t>processes in Samsung &amp; LG TVs with a single click. </a:t>
            </a:r>
          </a:p>
          <a:p>
            <a:pPr marL="323850" lvl="1">
              <a:lnSpc>
                <a:spcPts val="3000"/>
              </a:lnSpc>
            </a:pPr>
            <a:endParaRPr lang="en-US" sz="3000" dirty="0">
              <a:solidFill>
                <a:srgbClr val="000000"/>
              </a:solidFill>
            </a:endParaRPr>
          </a:p>
          <a:p>
            <a:pPr marL="781050" lvl="1" indent="-457200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</a:rPr>
              <a:t>These actions includes log collection and configuration processes such as rooting/rebooting, installing/uninstalling APKs, gamma/beta pointing, and killing crash processes.</a:t>
            </a:r>
          </a:p>
          <a:p>
            <a:pPr marL="323850" lvl="1">
              <a:lnSpc>
                <a:spcPts val="3000"/>
              </a:lnSpc>
            </a:pPr>
            <a:endParaRPr lang="en-US" sz="3000" dirty="0">
              <a:solidFill>
                <a:srgbClr val="000000"/>
              </a:solidFill>
            </a:endParaRPr>
          </a:p>
          <a:p>
            <a:pPr marL="781050" lvl="1" indent="-457200" algn="l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</a:rPr>
              <a:t>In order to use this script team has to install the script and open the terminal and pick up the number to perform the respective action. </a:t>
            </a:r>
            <a:endParaRPr lang="en-US" sz="3000" dirty="0">
              <a:solidFill>
                <a:srgbClr val="000000"/>
              </a:solidFill>
              <a:latin typeface="Libre Baskerville"/>
            </a:endParaRPr>
          </a:p>
          <a:p>
            <a:pPr algn="l">
              <a:lnSpc>
                <a:spcPts val="3000"/>
              </a:lnSpc>
            </a:pPr>
            <a:endParaRPr lang="en-US" sz="3000" dirty="0">
              <a:solidFill>
                <a:srgbClr val="000000"/>
              </a:solidFill>
              <a:latin typeface="Libre Baskerville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E8181FC1-6F68-471F-B277-203E3D115328}"/>
              </a:ext>
            </a:extLst>
          </p:cNvPr>
          <p:cNvSpPr/>
          <p:nvPr/>
        </p:nvSpPr>
        <p:spPr>
          <a:xfrm>
            <a:off x="3048000" y="7353300"/>
            <a:ext cx="10337201" cy="2659201"/>
          </a:xfrm>
          <a:custGeom>
            <a:avLst/>
            <a:gdLst/>
            <a:ahLst/>
            <a:cxnLst/>
            <a:rect l="l" t="t" r="r" b="b"/>
            <a:pathLst>
              <a:path w="10337201" h="2659201">
                <a:moveTo>
                  <a:pt x="0" y="0"/>
                </a:moveTo>
                <a:lnTo>
                  <a:pt x="10337201" y="0"/>
                </a:lnTo>
                <a:lnTo>
                  <a:pt x="10337201" y="2659201"/>
                </a:lnTo>
                <a:lnTo>
                  <a:pt x="0" y="2659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221" r="-5197" b="-17650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917448" y="1651000"/>
            <a:ext cx="16230600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 dirty="0">
                <a:solidFill>
                  <a:srgbClr val="000000"/>
                </a:solidFill>
                <a:latin typeface="Yeseva One"/>
              </a:rPr>
              <a:t>Tool Options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92ED78E-37BE-4829-B0E8-6A97CA36A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01223"/>
              </p:ext>
            </p:extLst>
          </p:nvPr>
        </p:nvGraphicFramePr>
        <p:xfrm>
          <a:off x="228600" y="2817986"/>
          <a:ext cx="17678400" cy="735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Acrobat Document" r:id="rId3" imgW="13716000" imgH="7715250" progId="Acrobat.Document.DC">
                  <p:embed/>
                </p:oleObj>
              </mc:Choice>
              <mc:Fallback>
                <p:oleObj name="Acrobat Document" r:id="rId3" imgW="13716000" imgH="7715250" progId="Acrobat.Document.DC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5147284B-6220-4DAE-A640-FCFCDC10B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" y="2817986"/>
                        <a:ext cx="17678400" cy="7354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4552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283182" y="1835026"/>
            <a:ext cx="11696350" cy="1214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 dirty="0">
                <a:solidFill>
                  <a:srgbClr val="000000"/>
                </a:solidFill>
              </a:rPr>
              <a:t>Time Savings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6475" y="3848100"/>
            <a:ext cx="13598526" cy="5968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4444" lvl="1" indent="-337222" algn="l">
              <a:lnSpc>
                <a:spcPts val="3123"/>
              </a:lnSpc>
              <a:buFont typeface="Arial"/>
              <a:buChar char="•"/>
            </a:pPr>
            <a:endParaRPr lang="en-US" sz="3123" dirty="0">
              <a:solidFill>
                <a:srgbClr val="000000"/>
              </a:solidFill>
              <a:latin typeface="Libre Baskerville"/>
            </a:endParaRPr>
          </a:p>
          <a:p>
            <a:pPr marL="674444" lvl="1" indent="-337222" algn="l">
              <a:lnSpc>
                <a:spcPts val="3123"/>
              </a:lnSpc>
              <a:buFont typeface="Arial"/>
              <a:buChar char="•"/>
            </a:pPr>
            <a:endParaRPr lang="en-US" sz="3123" dirty="0">
              <a:solidFill>
                <a:srgbClr val="000000"/>
              </a:solidFill>
              <a:latin typeface="Libre Baskerville"/>
            </a:endParaRPr>
          </a:p>
          <a:p>
            <a:pPr marL="674444" lvl="1" indent="-337222" algn="l">
              <a:lnSpc>
                <a:spcPts val="3123"/>
              </a:lnSpc>
              <a:buFont typeface="Arial"/>
              <a:buChar char="•"/>
            </a:pPr>
            <a:r>
              <a:rPr lang="en-US" sz="3123" dirty="0">
                <a:solidFill>
                  <a:srgbClr val="000000"/>
                </a:solidFill>
              </a:rPr>
              <a:t>Before implementing this Tool, Team taken 187 mins to perform all the device configuration and defects logging.</a:t>
            </a:r>
          </a:p>
          <a:p>
            <a:pPr marL="674444" lvl="1" indent="-337222" algn="l">
              <a:lnSpc>
                <a:spcPts val="3123"/>
              </a:lnSpc>
              <a:buFont typeface="Arial"/>
              <a:buChar char="•"/>
            </a:pPr>
            <a:endParaRPr lang="en-US" sz="3123" dirty="0">
              <a:solidFill>
                <a:srgbClr val="000000"/>
              </a:solidFill>
            </a:endParaRPr>
          </a:p>
          <a:p>
            <a:pPr marL="674444" lvl="1" indent="-337222" algn="l">
              <a:lnSpc>
                <a:spcPts val="3123"/>
              </a:lnSpc>
              <a:buFont typeface="Arial"/>
              <a:buChar char="•"/>
            </a:pPr>
            <a:r>
              <a:rPr lang="en-US" sz="3123" dirty="0">
                <a:solidFill>
                  <a:srgbClr val="000000"/>
                </a:solidFill>
              </a:rPr>
              <a:t>After incorporating this tool, It takes only 53 mins to perform all actions.</a:t>
            </a:r>
          </a:p>
          <a:p>
            <a:pPr marL="674444" lvl="1" indent="-337222" algn="l">
              <a:lnSpc>
                <a:spcPts val="3123"/>
              </a:lnSpc>
              <a:buFont typeface="Arial"/>
              <a:buChar char="•"/>
            </a:pPr>
            <a:endParaRPr lang="en-US" sz="3123" dirty="0">
              <a:solidFill>
                <a:srgbClr val="000000"/>
              </a:solidFill>
            </a:endParaRPr>
          </a:p>
          <a:p>
            <a:pPr marL="674444" lvl="1" indent="-337222" algn="l">
              <a:lnSpc>
                <a:spcPts val="3123"/>
              </a:lnSpc>
              <a:buFont typeface="Arial"/>
              <a:buChar char="•"/>
            </a:pPr>
            <a:r>
              <a:rPr lang="en-US" sz="3123" dirty="0">
                <a:solidFill>
                  <a:srgbClr val="000000"/>
                </a:solidFill>
              </a:rPr>
              <a:t>Overall, we are able to save 620 hours during the year 2024.</a:t>
            </a:r>
          </a:p>
          <a:p>
            <a:pPr algn="l">
              <a:lnSpc>
                <a:spcPts val="3123"/>
              </a:lnSpc>
            </a:pPr>
            <a:endParaRPr lang="en-US" sz="3123" dirty="0">
              <a:solidFill>
                <a:srgbClr val="000000"/>
              </a:solidFill>
              <a:latin typeface="Libre Baskerville"/>
            </a:endParaRPr>
          </a:p>
          <a:p>
            <a:pPr algn="l">
              <a:lnSpc>
                <a:spcPts val="3123"/>
              </a:lnSpc>
            </a:pPr>
            <a:endParaRPr lang="en-US" sz="3123" u="sng" dirty="0">
              <a:solidFill>
                <a:srgbClr val="000000"/>
              </a:solidFill>
              <a:latin typeface="Libre Baskerville"/>
              <a:hlinkClick r:id="rId2" tooltip="https://wiki.labcollab.net/confluence/display/Doppler/LG+and+Samsung+3P+TV+Log+Extractor"/>
            </a:endParaRPr>
          </a:p>
          <a:p>
            <a:pPr algn="l">
              <a:lnSpc>
                <a:spcPts val="3123"/>
              </a:lnSpc>
            </a:pPr>
            <a:endParaRPr lang="en-US" sz="3123" u="sng" dirty="0">
              <a:solidFill>
                <a:srgbClr val="000000"/>
              </a:solidFill>
              <a:latin typeface="Libre Baskerville"/>
              <a:hlinkClick r:id="rId2" tooltip="https://wiki.labcollab.net/confluence/display/Doppler/LG+and+Samsung+3P+TV+Log+Extractor"/>
            </a:endParaRPr>
          </a:p>
          <a:p>
            <a:pPr algn="l">
              <a:lnSpc>
                <a:spcPts val="3123"/>
              </a:lnSpc>
            </a:pPr>
            <a:endParaRPr lang="en-US" sz="3123" u="sng" dirty="0">
              <a:solidFill>
                <a:srgbClr val="000000"/>
              </a:solidFill>
              <a:latin typeface="Libre Baskerville"/>
              <a:hlinkClick r:id="rId2" tooltip="https://wiki.labcollab.net/confluence/display/Doppler/LG+and+Samsung+3P+TV+Log+Extractor"/>
            </a:endParaRPr>
          </a:p>
          <a:p>
            <a:pPr algn="l">
              <a:lnSpc>
                <a:spcPts val="3123"/>
              </a:lnSpc>
            </a:pPr>
            <a:endParaRPr lang="en-US" sz="3123" u="sng" dirty="0">
              <a:solidFill>
                <a:srgbClr val="000000"/>
              </a:solidFill>
              <a:latin typeface="Libre Baskerville"/>
              <a:hlinkClick r:id="rId2" tooltip="https://wiki.labcollab.net/confluence/display/Doppler/LG+and+Samsung+3P+TV+Log+Extractor"/>
            </a:endParaRPr>
          </a:p>
          <a:p>
            <a:pPr algn="l">
              <a:lnSpc>
                <a:spcPts val="3123"/>
              </a:lnSpc>
            </a:pPr>
            <a:endParaRPr lang="en-US" sz="3123" u="sng" dirty="0">
              <a:solidFill>
                <a:srgbClr val="000000"/>
              </a:solidFill>
              <a:latin typeface="Libre Baskerville"/>
              <a:hlinkClick r:id="rId2" tooltip="https://wiki.labcollab.net/confluence/display/Doppler/LG+and+Samsung+3P+TV+Log+Extractor"/>
            </a:endParaRPr>
          </a:p>
          <a:p>
            <a:pPr algn="l">
              <a:lnSpc>
                <a:spcPts val="3123"/>
              </a:lnSpc>
              <a:spcBef>
                <a:spcPct val="0"/>
              </a:spcBef>
            </a:pPr>
            <a:endParaRPr lang="en-US" sz="3123" u="sng" dirty="0">
              <a:solidFill>
                <a:srgbClr val="000000"/>
              </a:solidFill>
              <a:latin typeface="Libre Baskerville"/>
              <a:hlinkClick r:id="rId2" tooltip="https://wiki.labcollab.net/confluence/display/Doppler/LG+and+Samsung+3P+TV+Log+Extracto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7646" y="2026537"/>
            <a:ext cx="11721636" cy="480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00"/>
              </a:lnSpc>
            </a:pPr>
            <a:r>
              <a:rPr lang="en-US" sz="12500" dirty="0">
                <a:solidFill>
                  <a:srgbClr val="000000"/>
                </a:solidFill>
              </a:rPr>
              <a:t>Thank You</a:t>
            </a:r>
          </a:p>
          <a:p>
            <a:pPr algn="ctr">
              <a:lnSpc>
                <a:spcPts val="12500"/>
              </a:lnSpc>
            </a:pPr>
            <a:endParaRPr lang="en-US" sz="12500" dirty="0">
              <a:solidFill>
                <a:srgbClr val="000000"/>
              </a:solidFill>
              <a:latin typeface="Yeseva One"/>
            </a:endParaRPr>
          </a:p>
          <a:p>
            <a:pPr algn="ctr">
              <a:lnSpc>
                <a:spcPts val="12500"/>
              </a:lnSpc>
            </a:pPr>
            <a:r>
              <a:rPr lang="en-US" sz="9600" dirty="0">
                <a:solidFill>
                  <a:srgbClr val="000000"/>
                </a:solidFill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380</Words>
  <Application>Microsoft Office PowerPoint</Application>
  <PresentationFormat>Custom</PresentationFormat>
  <Paragraphs>40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Libre Baskerville</vt:lpstr>
      <vt:lpstr>Calibri</vt:lpstr>
      <vt:lpstr>Yeseva One</vt:lpstr>
      <vt:lpstr>Wingdings</vt:lpstr>
      <vt:lpstr>Arial</vt:lpstr>
      <vt:lpstr>Office Theme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Sand Minimalist Modern Thesis Defense Presentation</dc:title>
  <cp:lastModifiedBy>Banu, Musbera</cp:lastModifiedBy>
  <cp:revision>40</cp:revision>
  <dcterms:created xsi:type="dcterms:W3CDTF">2006-08-16T00:00:00Z</dcterms:created>
  <dcterms:modified xsi:type="dcterms:W3CDTF">2024-07-17T15:26:08Z</dcterms:modified>
  <dc:identifier>DAGFSxjhNYs</dc:identifier>
</cp:coreProperties>
</file>